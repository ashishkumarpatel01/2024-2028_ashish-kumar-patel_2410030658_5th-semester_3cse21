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4.xml" /><ns0:Relationship Id="rId22" Type="http://schemas.openxmlformats.org/officeDocument/2006/relationships/slide" Target="slides/slide15.xml" /><ns0:Relationship Id="rId23" Type="http://schemas.openxmlformats.org/officeDocument/2006/relationships/slide" Target="slides/slide16.xml" /><ns0:Relationship Id="rId24" Type="http://schemas.openxmlformats.org/officeDocument/2006/relationships/slide" Target="slides/slide17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ilm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1463040" cy="613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3716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24977"/>
                </a:solidFill>
                <a:latin typeface="Aptos Display"/>
              </a:defRPr>
            </a:pPr>
            <a:r>
              <a:t>Artificial Intelligence &amp;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084831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068"/>
                </a:solidFill>
                <a:latin typeface="Aptos"/>
              </a:defRPr>
            </a:pPr>
            <a:r>
              <a:t>Summer Internship / Learning Program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834640"/>
            <a:ext cx="5303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24977"/>
                </a:solidFill>
                <a:latin typeface="Aptos"/>
              </a:defRPr>
            </a:pPr>
            <a:r>
              <a:t>Student Details</a:t>
            </a:r>
          </a:p>
          <a:p>
            <a:pPr>
              <a:spcAft>
                <a:spcPts val="600"/>
              </a:spcAft>
              <a:defRPr sz="1600" b="0">
                <a:solidFill>
                  <a:srgbClr val="23272C"/>
                </a:solidFill>
                <a:latin typeface="Aptos"/>
              </a:defRPr>
            </a:pPr>
            <a:r>
              <a:t>Ashish Kumar Patel</a:t>
            </a:r>
          </a:p>
          <a:p>
            <a:pPr>
              <a:spcAft>
                <a:spcPts val="600"/>
              </a:spcAft>
              <a:defRPr sz="1600" b="0">
                <a:solidFill>
                  <a:srgbClr val="23272C"/>
                </a:solidFill>
                <a:latin typeface="Aptos"/>
              </a:defRPr>
            </a:pPr>
            <a:r>
              <a:t>Class: 3CSE21</a:t>
            </a:r>
          </a:p>
          <a:p>
            <a:pPr>
              <a:spcAft>
                <a:spcPts val="600"/>
              </a:spcAft>
              <a:defRPr sz="1600" b="0">
                <a:solidFill>
                  <a:srgbClr val="23272C"/>
                </a:solidFill>
                <a:latin typeface="Aptos"/>
              </a:defRPr>
            </a:pPr>
            <a:r>
              <a:t>Roll No.: 2410030658</a:t>
            </a:r>
          </a:p>
          <a:p>
            <a:pPr>
              <a:spcAft>
                <a:spcPts val="600"/>
              </a:spcAft>
              <a:defRPr sz="1600" b="0">
                <a:solidFill>
                  <a:srgbClr val="23272C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880360"/>
            <a:ext cx="46634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224977"/>
                </a:solidFill>
                <a:latin typeface="Aptos"/>
              </a:defRPr>
            </a:pPr>
            <a:r>
              <a:t>Internship / Learning Provider</a:t>
            </a:r>
          </a:p>
          <a:p>
            <a:pPr>
              <a:spcAft>
                <a:spcPts val="1000"/>
              </a:spcAft>
              <a:defRPr sz="1400">
                <a:solidFill>
                  <a:srgbClr val="23272C"/>
                </a:solidFill>
                <a:latin typeface="Aptos"/>
              </a:defRPr>
            </a:pPr>
            <a:r>
              <a:t>Cisco Networking Academy program, offered by IILM University</a:t>
            </a:r>
          </a:p>
          <a:p>
            <a:pPr>
              <a:defRPr b="1" sz="1300">
                <a:solidFill>
                  <a:srgbClr val="224977"/>
                </a:solidFill>
                <a:latin typeface="Aptos"/>
              </a:defRPr>
            </a:pPr>
            <a:r>
              <a:t>Completion Period</a:t>
            </a:r>
          </a:p>
          <a:p>
            <a:pPr>
              <a:spcAft>
                <a:spcPts val="1000"/>
              </a:spcAft>
              <a:defRPr sz="1400">
                <a:solidFill>
                  <a:srgbClr val="23272C"/>
                </a:solidFill>
                <a:latin typeface="Aptos"/>
              </a:defRPr>
            </a:pPr>
            <a:r>
              <a:t>06 June 2026 – 11 June 2026</a:t>
            </a:r>
          </a:p>
          <a:p>
            <a:pPr>
              <a:defRPr b="1" sz="1300">
                <a:solidFill>
                  <a:srgbClr val="224977"/>
                </a:solidFill>
                <a:latin typeface="Aptos"/>
              </a:defRPr>
            </a:pPr>
            <a:r>
              <a:t>Credentials</a:t>
            </a:r>
          </a:p>
          <a:p>
            <a:pPr>
              <a:spcAft>
                <a:spcPts val="1000"/>
              </a:spcAft>
              <a:defRPr sz="1400">
                <a:solidFill>
                  <a:srgbClr val="23272C"/>
                </a:solidFill>
                <a:latin typeface="Aptos"/>
              </a:defRPr>
            </a:pPr>
            <a:r>
              <a:t>3 course completion certificates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A structured learning experience across AI and Data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383280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Domain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Artificial Intelligence and Data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383280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Organization / Provider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Cisco Networking Academy program, offered by IILM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91640"/>
            <a:ext cx="3383280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Credentials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Three successfully completed learning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069080"/>
            <a:ext cx="9418320" cy="13258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800">
                <a:solidFill>
                  <a:srgbClr val="224977"/>
                </a:solidFill>
                <a:latin typeface="Aptos"/>
              </a:defRPr>
            </a:pPr>
            <a:r>
              <a:t>Certified Modules</a:t>
            </a:r>
          </a:p>
          <a:p>
            <a:pPr>
              <a:defRPr sz="1600">
                <a:solidFill>
                  <a:srgbClr val="23272C"/>
                </a:solidFill>
                <a:latin typeface="Aptos"/>
              </a:defRPr>
            </a:pPr>
            <a:r>
              <a:t>Introduction to Modern AI  |  Apply AI: Analyze Customer Reviews  |  Data Analytics Essentials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Internship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Key learning goals derived from the three completed certificates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  <a:latin typeface="Aptos"/>
              </a:defRPr>
            </a:pPr>
            <a:r>
              <a:t>• Build a foundational understanding of modern Artificial Intelligence concepts.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  <a:latin typeface="Aptos"/>
              </a:defRPr>
            </a:pPr>
            <a:r>
              <a:t>• Understand how AI can be applied to the analysis of customer-review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  <a:latin typeface="Aptos"/>
              </a:defRPr>
            </a:pPr>
            <a:r>
              <a:t>• Develop awareness of essential Data Analytics concepts.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  <a:latin typeface="Aptos"/>
              </a:defRPr>
            </a:pPr>
            <a:r>
              <a:t>• Connect AI and data analysis with practical information-analysis problems.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  <a:latin typeface="Aptos"/>
              </a:defRPr>
            </a:pPr>
            <a:r>
              <a:t>• Strengthen analytical thinking and technical problem interpretation.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  <a:latin typeface="Aptos"/>
              </a:defRPr>
            </a:pPr>
            <a:r>
              <a:t>• Identify areas for further learning in intelligent systems and data-driven applications.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Progression across the three certified learning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2148840" cy="132588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24977"/>
                </a:solidFill>
                <a:latin typeface="Aptos"/>
              </a:defRPr>
            </a:pPr>
            <a:r>
              <a:t>1</a:t>
            </a:r>
          </a:p>
          <a:p>
            <a:pPr algn="ctr">
              <a:defRPr sz="1300">
                <a:solidFill>
                  <a:srgbClr val="23272C"/>
                </a:solidFill>
                <a:latin typeface="Aptos"/>
              </a:defRPr>
            </a:pPr>
            <a:r>
              <a:t>Introduction to Modern AI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70632" y="2606040"/>
            <a:ext cx="109728" cy="384048"/>
          </a:xfrm>
          <a:prstGeom prst="rightArrow">
            <a:avLst/>
          </a:prstGeom>
          <a:solidFill>
            <a:srgbClr val="5A6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07792" y="2148840"/>
            <a:ext cx="2148840" cy="132588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24977"/>
                </a:solidFill>
                <a:latin typeface="Aptos"/>
              </a:defRPr>
            </a:pPr>
            <a:r>
              <a:t>2</a:t>
            </a:r>
          </a:p>
          <a:p>
            <a:pPr algn="ctr">
              <a:defRPr sz="1300">
                <a:solidFill>
                  <a:srgbClr val="23272C"/>
                </a:solidFill>
                <a:latin typeface="Aptos"/>
              </a:defRPr>
            </a:pPr>
            <a:r>
              <a:t>AI Application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84064" y="2606040"/>
            <a:ext cx="109728" cy="384048"/>
          </a:xfrm>
          <a:prstGeom prst="rightArrow">
            <a:avLst/>
          </a:prstGeom>
          <a:solidFill>
            <a:srgbClr val="5A6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21224" y="2148840"/>
            <a:ext cx="2148840" cy="132588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24977"/>
                </a:solidFill>
                <a:latin typeface="Aptos"/>
              </a:defRPr>
            </a:pPr>
            <a:r>
              <a:t>3</a:t>
            </a:r>
          </a:p>
          <a:p>
            <a:pPr algn="ctr">
              <a:defRPr sz="1300">
                <a:solidFill>
                  <a:srgbClr val="23272C"/>
                </a:solidFill>
                <a:latin typeface="Aptos"/>
              </a:defRPr>
            </a:pPr>
            <a:r>
              <a:t>Analyze Customer Reviews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97496" y="2606040"/>
            <a:ext cx="109728" cy="384048"/>
          </a:xfrm>
          <a:prstGeom prst="rightArrow">
            <a:avLst/>
          </a:prstGeom>
          <a:solidFill>
            <a:srgbClr val="5A6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34656" y="2148840"/>
            <a:ext cx="2148840" cy="132588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24977"/>
                </a:solidFill>
                <a:latin typeface="Aptos"/>
              </a:defRPr>
            </a:pPr>
            <a:r>
              <a:t>4</a:t>
            </a:r>
          </a:p>
          <a:p>
            <a:pPr algn="ctr">
              <a:defRPr sz="1300">
                <a:solidFill>
                  <a:srgbClr val="23272C"/>
                </a:solidFill>
                <a:latin typeface="Aptos"/>
              </a:defRPr>
            </a:pPr>
            <a:r>
              <a:t>Data Analytics Essentials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10928" y="2606040"/>
            <a:ext cx="109728" cy="384048"/>
          </a:xfrm>
          <a:prstGeom prst="rightArrow">
            <a:avLst/>
          </a:prstGeom>
          <a:solidFill>
            <a:srgbClr val="5A6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48088" y="2148840"/>
            <a:ext cx="2148840" cy="132588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24977"/>
                </a:solidFill>
                <a:latin typeface="Aptos"/>
              </a:defRPr>
            </a:pPr>
            <a:r>
              <a:t>5</a:t>
            </a:r>
          </a:p>
          <a:p>
            <a:pPr algn="ctr">
              <a:defRPr sz="1300">
                <a:solidFill>
                  <a:srgbClr val="23272C"/>
                </a:solidFill>
                <a:latin typeface="Aptos"/>
              </a:defRPr>
            </a:pPr>
            <a:r>
              <a:t>Integrated Learning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251960"/>
            <a:ext cx="9784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Overall Progression</a:t>
            </a:r>
          </a:p>
          <a:p>
            <a:pPr>
              <a:defRPr sz="1600">
                <a:solidFill>
                  <a:srgbClr val="23272C"/>
                </a:solidFill>
                <a:latin typeface="Aptos"/>
              </a:defRPr>
            </a:pPr>
            <a:r>
              <a:t>Modern AI concepts → AI application to customer-review analysis → essential data analytics knowledge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Introduction to Modern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Foundation of the Artificial Intelligence learning component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Certified Learning Area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The certificate confirms successful completion of the course “Introduction to Modern AI.”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Learning Focus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Foundational exposure to modern Artificial Intelligence concepts and their relevance to contemporary computing.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5448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Academic Relevance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Supports further study in intelligent systems, machine learning, and AI-related computing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892040"/>
            <a:ext cx="914400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600">
                <a:solidFill>
                  <a:srgbClr val="224977"/>
                </a:solidFill>
                <a:latin typeface="Aptos"/>
              </a:defRPr>
            </a:pPr>
            <a:r>
              <a:t>Completion Evidence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Completion Date: 06 Jun 2026  |  Certificate ID: 600f399d-0f59-42dc-921c-0a03d89cd9c6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Apply AI: Analyze Customer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Application-oriented learning in an AI analysis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383280" cy="310896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Application Context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The course title identifies customer-review analysis as the application area for learning about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310896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Learning Perspective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Explores how AI can support the analysis and interpretation of customer-review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54480"/>
            <a:ext cx="3383280" cy="310896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Reporting Limitation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The supplied certificate does not specify datasets, software tools, source code, architecture, or individual implementation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983480"/>
            <a:ext cx="9144000" cy="77724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600">
                <a:solidFill>
                  <a:srgbClr val="224977"/>
                </a:solidFill>
                <a:latin typeface="Aptos"/>
              </a:defRPr>
            </a:pPr>
            <a:r>
              <a:t>Completion Evidence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Completion Date: 07 Jun 2026  |  Certificate ID: 119691b0-550b-4615-908e-af08348f084a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Data Analytics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From data to useful information and analytical understanding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Certified Learning Area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The certificate confirms successful completion of the course “Data Analytics Essentials.”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Learning Focus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Foundational awareness of examining data, identifying patterns, and deriving useful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5448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CSE Relevance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Supports analytical thinking and provides a base for future data-driven computing and decision-support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892040"/>
            <a:ext cx="914400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600">
                <a:solidFill>
                  <a:srgbClr val="224977"/>
                </a:solidFill>
                <a:latin typeface="Aptos"/>
              </a:defRPr>
            </a:pPr>
            <a:r>
              <a:t>Completion Evidence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Completion Date: 11 Jun 2026  |  Certificate ID: 541064d1-8ed9-49d2-b81f-19eb7c2135d6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Integrated Learning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Connecting the three certificates into one coherent learning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331720" cy="164592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224977"/>
                </a:solidFill>
                <a:latin typeface="Aptos"/>
              </a:defRPr>
            </a:pPr>
            <a:r>
              <a:t>Modern AI</a:t>
            </a:r>
          </a:p>
          <a:p>
            <a:pPr algn="ctr">
              <a:defRPr sz="1300">
                <a:solidFill>
                  <a:srgbClr val="23272C"/>
                </a:solidFill>
                <a:latin typeface="Aptos"/>
              </a:defRPr>
            </a:pPr>
            <a:r>
              <a:t>Foundational AI concepts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36391" y="2679192"/>
            <a:ext cx="310896" cy="411480"/>
          </a:xfrm>
          <a:prstGeom prst="rightArrow">
            <a:avLst/>
          </a:prstGeom>
          <a:solidFill>
            <a:srgbClr val="5A6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2103120"/>
            <a:ext cx="2331720" cy="164592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224977"/>
                </a:solidFill>
                <a:latin typeface="Aptos"/>
              </a:defRPr>
            </a:pPr>
            <a:r>
              <a:t>Customer Reviews</a:t>
            </a:r>
          </a:p>
          <a:p>
            <a:pPr algn="ctr">
              <a:defRPr sz="1300">
                <a:solidFill>
                  <a:srgbClr val="23272C"/>
                </a:solidFill>
                <a:latin typeface="Aptos"/>
              </a:defRPr>
            </a:pPr>
            <a:r>
              <a:t>Application-oriented AI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71032" y="2679192"/>
            <a:ext cx="310896" cy="411480"/>
          </a:xfrm>
          <a:prstGeom prst="rightArrow">
            <a:avLst/>
          </a:prstGeom>
          <a:solidFill>
            <a:srgbClr val="5A6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2331720" cy="164592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224977"/>
                </a:solidFill>
                <a:latin typeface="Aptos"/>
              </a:defRPr>
            </a:pPr>
            <a:r>
              <a:t>Data Analytics</a:t>
            </a:r>
          </a:p>
          <a:p>
            <a:pPr algn="ctr">
              <a:defRPr sz="1300">
                <a:solidFill>
                  <a:srgbClr val="23272C"/>
                </a:solidFill>
                <a:latin typeface="Aptos"/>
              </a:defRPr>
            </a:pPr>
            <a:r>
              <a:t>Essential analytical concepts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05672" y="2679192"/>
            <a:ext cx="310896" cy="411480"/>
          </a:xfrm>
          <a:prstGeom prst="rightArrow">
            <a:avLst/>
          </a:prstGeom>
          <a:solidFill>
            <a:srgbClr val="5A6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2103120"/>
            <a:ext cx="2331720" cy="164592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224977"/>
                </a:solidFill>
                <a:latin typeface="Aptos"/>
              </a:defRPr>
            </a:pPr>
            <a:r>
              <a:t>Learning Outcome</a:t>
            </a:r>
          </a:p>
          <a:p>
            <a:pPr algn="ctr">
              <a:defRPr sz="1300">
                <a:solidFill>
                  <a:srgbClr val="23272C"/>
                </a:solidFill>
                <a:latin typeface="Aptos"/>
              </a:defRPr>
            </a:pPr>
            <a:r>
              <a:t>AI and data-driven problem awareness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4572000"/>
            <a:ext cx="9692640" cy="100584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Key Takeaway</a:t>
            </a:r>
          </a:p>
          <a:p>
            <a:pPr>
              <a:defRPr sz="1500">
                <a:solidFill>
                  <a:srgbClr val="23272C"/>
                </a:solidFill>
                <a:latin typeface="Aptos"/>
              </a:defRPr>
            </a:pPr>
            <a:r>
              <a:t>The three certificates collectively provide a foundation for understanding AI concepts, an example AI application area, and essential data analytics.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Learning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A conservative progression based on the scope of the completed modules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417320"/>
            <a:ext cx="502920" cy="502920"/>
          </a:xfrm>
          <a:prstGeom prst="ellipse">
            <a:avLst/>
          </a:prstGeom>
          <a:solidFill>
            <a:srgbClr val="224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900">
                <a:solidFill>
                  <a:srgbClr val="5A606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344168"/>
            <a:ext cx="8961120" cy="640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500">
                <a:solidFill>
                  <a:srgbClr val="224977"/>
                </a:solidFill>
                <a:latin typeface="Aptos"/>
              </a:defRPr>
            </a:pPr>
            <a:r>
              <a:t>Fundamentals</a:t>
            </a:r>
          </a:p>
          <a:p>
            <a:pPr>
              <a:defRPr sz="1300">
                <a:solidFill>
                  <a:srgbClr val="23272C"/>
                </a:solidFill>
                <a:latin typeface="Aptos"/>
              </a:defRPr>
            </a:pPr>
            <a:r>
              <a:t>Modern AI concepts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224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900">
                <a:solidFill>
                  <a:srgbClr val="5A606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212848"/>
            <a:ext cx="8961120" cy="640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500">
                <a:solidFill>
                  <a:srgbClr val="224977"/>
                </a:solidFill>
                <a:latin typeface="Aptos"/>
              </a:defRPr>
            </a:pPr>
            <a:r>
              <a:t>Core Concepts</a:t>
            </a:r>
          </a:p>
          <a:p>
            <a:pPr>
              <a:defRPr sz="1300">
                <a:solidFill>
                  <a:srgbClr val="23272C"/>
                </a:solidFill>
                <a:latin typeface="Aptos"/>
              </a:defRPr>
            </a:pPr>
            <a:r>
              <a:t>AI and data analytics awareness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54680"/>
            <a:ext cx="502920" cy="502920"/>
          </a:xfrm>
          <a:prstGeom prst="ellipse">
            <a:avLst/>
          </a:prstGeom>
          <a:solidFill>
            <a:srgbClr val="224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900">
                <a:solidFill>
                  <a:srgbClr val="5A606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3081528"/>
            <a:ext cx="8961120" cy="640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500">
                <a:solidFill>
                  <a:srgbClr val="224977"/>
                </a:solidFill>
                <a:latin typeface="Aptos"/>
              </a:defRPr>
            </a:pPr>
            <a:r>
              <a:t>Application Context</a:t>
            </a:r>
          </a:p>
          <a:p>
            <a:pPr>
              <a:defRPr sz="1300">
                <a:solidFill>
                  <a:srgbClr val="23272C"/>
                </a:solidFill>
                <a:latin typeface="Aptos"/>
              </a:defRPr>
            </a:pPr>
            <a:r>
              <a:t>Customer-review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023359"/>
            <a:ext cx="502920" cy="502920"/>
          </a:xfrm>
          <a:prstGeom prst="ellipse">
            <a:avLst/>
          </a:prstGeom>
          <a:solidFill>
            <a:srgbClr val="224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900">
                <a:solidFill>
                  <a:srgbClr val="5A606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3950207"/>
            <a:ext cx="8961120" cy="640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500">
                <a:solidFill>
                  <a:srgbClr val="224977"/>
                </a:solidFill>
                <a:latin typeface="Aptos"/>
              </a:defRPr>
            </a:pPr>
            <a:r>
              <a:t>Integration</a:t>
            </a:r>
          </a:p>
          <a:p>
            <a:pPr>
              <a:defRPr sz="1300">
                <a:solidFill>
                  <a:srgbClr val="23272C"/>
                </a:solidFill>
                <a:latin typeface="Aptos"/>
              </a:defRPr>
            </a:pPr>
            <a:r>
              <a:t>Connecting AI with information analysis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892040"/>
            <a:ext cx="502920" cy="502920"/>
          </a:xfrm>
          <a:prstGeom prst="ellipse">
            <a:avLst/>
          </a:prstGeom>
          <a:solidFill>
            <a:srgbClr val="224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900">
                <a:solidFill>
                  <a:srgbClr val="5A606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4818888"/>
            <a:ext cx="8961120" cy="6400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500">
                <a:solidFill>
                  <a:srgbClr val="224977"/>
                </a:solidFill>
                <a:latin typeface="Aptos"/>
              </a:defRPr>
            </a:pPr>
            <a:r>
              <a:t>Learning Outcome</a:t>
            </a:r>
          </a:p>
          <a:p>
            <a:pPr>
              <a:defRPr sz="1300">
                <a:solidFill>
                  <a:srgbClr val="23272C"/>
                </a:solidFill>
                <a:latin typeface="Aptos"/>
              </a:defRPr>
            </a:pPr>
            <a:r>
              <a:t>Foundation for future study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Practical Application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Customer-review analysis is the documented application-oriented 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200400" cy="320040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Information Source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Customer-review information is the context named by the certified AI application course.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08760"/>
            <a:ext cx="3200400" cy="320040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AI-Oriented Analysis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The learning focus concerns applying AI in the analysis of review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08760"/>
            <a:ext cx="3200400" cy="320040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700">
                <a:solidFill>
                  <a:srgbClr val="224977"/>
                </a:solidFill>
                <a:latin typeface="Aptos"/>
              </a:defRPr>
            </a:pPr>
            <a:r>
              <a:t>Analytical Understanding</a:t>
            </a:r>
          </a:p>
          <a:p>
            <a:pPr>
              <a:defRPr sz="1400">
                <a:solidFill>
                  <a:srgbClr val="23272C"/>
                </a:solidFill>
                <a:latin typeface="Aptos"/>
              </a:defRPr>
            </a:pPr>
            <a:r>
              <a:t>Data analytics concepts support the interpretation of information and identification of useful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074920"/>
            <a:ext cx="960120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600">
                <a:solidFill>
                  <a:srgbClr val="224977"/>
                </a:solidFill>
                <a:latin typeface="Aptos"/>
              </a:defRPr>
            </a:pPr>
            <a:r>
              <a:t>Important Note</a:t>
            </a:r>
          </a:p>
          <a:p>
            <a:pPr>
              <a:defRPr sz="1300">
                <a:solidFill>
                  <a:srgbClr val="23272C"/>
                </a:solidFill>
                <a:latin typeface="Aptos"/>
              </a:defRPr>
            </a:pPr>
            <a:r>
              <a:t>No separate capstone project, software architecture, implementation workflow, or observed project result is explicitly documented in the supplied certificates.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Technologies &amp; Learning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Only areas explicitly supported by the three certificates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3017520" cy="205740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224977"/>
                </a:solidFill>
                <a:latin typeface="Aptos"/>
              </a:defRPr>
            </a:pPr>
            <a:r>
              <a:t>Artificial Intelligence</a:t>
            </a:r>
          </a:p>
          <a:p>
            <a:pPr algn="ctr">
              <a:defRPr sz="1400">
                <a:solidFill>
                  <a:srgbClr val="23272C"/>
                </a:solidFill>
                <a:latin typeface="Aptos"/>
              </a:defRPr>
            </a:pPr>
            <a:r>
              <a:t>Modern AI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828800"/>
            <a:ext cx="3017520" cy="205740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224977"/>
                </a:solidFill>
                <a:latin typeface="Aptos"/>
              </a:defRPr>
            </a:pPr>
            <a:r>
              <a:t>AI-based Customer Review Analysis</a:t>
            </a:r>
          </a:p>
          <a:p>
            <a:pPr algn="ctr">
              <a:defRPr sz="1400">
                <a:solidFill>
                  <a:srgbClr val="23272C"/>
                </a:solidFill>
                <a:latin typeface="Aptos"/>
              </a:defRPr>
            </a:pPr>
            <a:r>
              <a:t>Application-oriented AI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3017520" cy="2057400"/>
          </a:xfrm>
          <a:prstGeom prst="roundRect">
            <a:avLst/>
          </a:prstGeom>
          <a:solidFill>
            <a:srgbClr val="F8F9FA"/>
          </a:solidFill>
          <a:ln>
            <a:solidFill>
              <a:srgbClr val="224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224977"/>
                </a:solidFill>
                <a:latin typeface="Aptos"/>
              </a:defRPr>
            </a:pPr>
            <a:r>
              <a:t>Data Analytics</a:t>
            </a:r>
          </a:p>
          <a:p>
            <a:pPr algn="ctr">
              <a:defRPr sz="1400">
                <a:solidFill>
                  <a:srgbClr val="23272C"/>
                </a:solidFill>
                <a:latin typeface="Aptos"/>
              </a:defRPr>
            </a:pPr>
            <a:r>
              <a:t>Essential analytical concepts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709160"/>
            <a:ext cx="960120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600">
                <a:solidFill>
                  <a:srgbClr val="224977"/>
                </a:solidFill>
                <a:latin typeface="Aptos"/>
              </a:defRPr>
            </a:pPr>
            <a:r>
              <a:t>Source Limitation</a:t>
            </a:r>
          </a:p>
          <a:p>
            <a:pPr>
              <a:defRPr sz="1300">
                <a:solidFill>
                  <a:srgbClr val="23272C"/>
                </a:solidFill>
                <a:latin typeface="Aptos"/>
              </a:defRPr>
            </a:pPr>
            <a:r>
              <a:t>The certificates do not explicitly name programming languages, software packages, frameworks, cloud platforms, or datasets; these are therefore not claimed as internship technologies.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Skills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Technical and professional development supported by the completed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166360" cy="42976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900">
                <a:solidFill>
                  <a:srgbClr val="224977"/>
                </a:solidFill>
                <a:latin typeface="Aptos"/>
              </a:defRPr>
            </a:pPr>
            <a:r>
              <a:t>Technical Skills</a:t>
            </a:r>
          </a:p>
          <a:p>
            <a:pPr>
              <a:defRPr sz="1500">
                <a:solidFill>
                  <a:srgbClr val="23272C"/>
                </a:solidFill>
                <a:latin typeface="Aptos"/>
              </a:defRPr>
            </a:pPr>
            <a:r>
              <a:t>• Foundational understanding of modern AI concepts.</a:t>
            </a:r>
            <a:br/>
            <a:r>
              <a:t>• Awareness of AI applications involving customer-review analysis.</a:t>
            </a:r>
            <a:br/>
            <a:r>
              <a:t>• Foundational understanding of data analytics concepts.</a:t>
            </a:r>
            <a:br/>
            <a:r>
              <a:t>• Ability to connect information analysis with practical computing problems.</a:t>
            </a:r>
            <a:br/>
            <a:r>
              <a:t>• Awareness of AI and data-driven application areas.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66360" cy="429768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900">
                <a:solidFill>
                  <a:srgbClr val="224977"/>
                </a:solidFill>
                <a:latin typeface="Aptos"/>
              </a:defRPr>
            </a:pPr>
            <a:r>
              <a:t>Professional Skills</a:t>
            </a:r>
          </a:p>
          <a:p>
            <a:pPr>
              <a:defRPr sz="1500">
                <a:solidFill>
                  <a:srgbClr val="23272C"/>
                </a:solidFill>
                <a:latin typeface="Aptos"/>
              </a:defRPr>
            </a:pPr>
            <a:r>
              <a:t>• Structured and self-directed learning.</a:t>
            </a:r>
            <a:br/>
            <a:r>
              <a:t>• Analytical thinking and problem interpretation.</a:t>
            </a:r>
            <a:br/>
            <a:r>
              <a:t>• Technical reading and understanding of domain-oriented content.</a:t>
            </a:r>
            <a:br/>
            <a:r>
              <a:t>• Evidence-based technical reporting.</a:t>
            </a:r>
            <a:br/>
            <a:r>
              <a:t>• Ability to connect academic CSE learning with contemporary technology domains.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24977"/>
                </a:solidFill>
                <a:latin typeface="Aptos Display"/>
              </a:defRPr>
            </a:pPr>
            <a:r>
              <a:t>Internship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Official completion evidence from the three certificates</a:t>
            </a:r>
          </a:p>
        </p:txBody>
      </p:sp>
      <p:pic>
        <p:nvPicPr>
          <p:cNvPr id="5" name="Picture 4" descr="Screenshot 2026-09-08 213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79" y="1325880"/>
            <a:ext cx="3463841" cy="2331720"/>
          </a:xfrm>
          <a:prstGeom prst="rect">
            <a:avLst/>
          </a:prstGeom>
        </p:spPr>
      </p:pic>
      <p:pic>
        <p:nvPicPr>
          <p:cNvPr id="6" name="Picture 5" descr="Screenshot 2026-09-08 213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767" y="1325880"/>
            <a:ext cx="3428561" cy="2331720"/>
          </a:xfrm>
          <a:prstGeom prst="rect">
            <a:avLst/>
          </a:prstGeom>
        </p:spPr>
      </p:pic>
      <p:pic>
        <p:nvPicPr>
          <p:cNvPr id="7" name="Picture 6" descr="Screenshot 2026-09-08 2135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585" y="1325880"/>
            <a:ext cx="3435021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224977"/>
                </a:solidFill>
                <a:latin typeface="Aptos"/>
              </a:defRPr>
            </a:pPr>
            <a:r>
              <a:t>Introduction to Modern AI</a:t>
            </a:r>
          </a:p>
          <a:p>
            <a:pPr algn="ctr">
              <a:defRPr sz="1200">
                <a:solidFill>
                  <a:srgbClr val="5A6068"/>
                </a:solidFill>
                <a:latin typeface="Aptos"/>
              </a:defRPr>
            </a:pPr>
            <a:r>
              <a:t>06 Jun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388620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224977"/>
                </a:solidFill>
                <a:latin typeface="Aptos"/>
              </a:defRPr>
            </a:pPr>
            <a:r>
              <a:t>Apply AI: Analyze Customer Reviews</a:t>
            </a:r>
          </a:p>
          <a:p>
            <a:pPr algn="ctr">
              <a:defRPr sz="1200">
                <a:solidFill>
                  <a:srgbClr val="5A6068"/>
                </a:solidFill>
                <a:latin typeface="Aptos"/>
              </a:defRPr>
            </a:pPr>
            <a:r>
              <a:t>07 Jun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9016" y="388620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224977"/>
                </a:solidFill>
                <a:latin typeface="Aptos"/>
              </a:defRPr>
            </a:pPr>
            <a:r>
              <a:t>Data Analytics Essentials</a:t>
            </a:r>
          </a:p>
          <a:p>
            <a:pPr algn="ctr">
              <a:defRPr sz="1200">
                <a:solidFill>
                  <a:srgbClr val="5A6068"/>
                </a:solidFill>
                <a:latin typeface="Aptos"/>
              </a:defRPr>
            </a:pPr>
            <a:r>
              <a:t>11 Jun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892040"/>
            <a:ext cx="9601200" cy="777240"/>
          </a:xfrm>
          <a:prstGeom prst="roundRect">
            <a:avLst/>
          </a:prstGeom>
          <a:solidFill>
            <a:srgbClr val="F8F9FA"/>
          </a:solidFill>
          <a:ln>
            <a:solidFill>
              <a:srgbClr val="CD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b="1" sz="1600">
                <a:solidFill>
                  <a:srgbClr val="224977"/>
                </a:solidFill>
                <a:latin typeface="Aptos"/>
              </a:defRPr>
            </a:pPr>
            <a:r>
              <a:t>Completion Summary</a:t>
            </a:r>
          </a:p>
          <a:p>
            <a:pPr>
              <a:defRPr sz="1300">
                <a:solidFill>
                  <a:srgbClr val="23272C"/>
                </a:solidFill>
                <a:latin typeface="Aptos"/>
              </a:defRPr>
            </a:pPr>
            <a:r>
              <a:t>Three successfully completed certificates covering Modern AI, AI-based Customer Review Analysis, and Data Analytics Essentials.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91656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224977"/>
                </a:solidFill>
                <a:latin typeface="Aptos Display"/>
              </a:defRPr>
            </a:pPr>
            <a:r>
              <a:t>Introduction to Modern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Certificate of Completion  |  Completion Date: 06 Jun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855" y="1417320"/>
            <a:ext cx="6667983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068"/>
                </a:solidFill>
                <a:latin typeface="Aptos"/>
              </a:defRPr>
            </a:pPr>
            <a:r>
              <a:t>Certificate ID: 600f399d-0f59-42dc-921c-0a03d89cd9c6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282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224977"/>
                </a:solidFill>
                <a:latin typeface="Aptos Display"/>
              </a:defRPr>
            </a:pPr>
            <a:r>
              <a:t>Apply AI: Analyze Customer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Certificate of Completion  |  Completion Date: 07 Jun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883" y="1417320"/>
            <a:ext cx="6723927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068"/>
                </a:solidFill>
                <a:latin typeface="Aptos"/>
              </a:defRPr>
            </a:pPr>
            <a:r>
              <a:t>Certificate ID: 119691b0-550b-4615-908e-af08348f084a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282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224977"/>
                </a:solidFill>
                <a:latin typeface="Aptos Display"/>
              </a:defRPr>
            </a:pPr>
            <a:r>
              <a:t>Data Analytics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Certificate of Completion  |  Completion Date: 11 Jun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126" y="1417320"/>
            <a:ext cx="6655442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068"/>
                </a:solidFill>
                <a:latin typeface="Aptos"/>
              </a:defRPr>
            </a:pPr>
            <a:r>
              <a:t>Certificate ID: 541064d1-8ed9-49d2-b81f-19eb7c2135d6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282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B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224977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068"/>
                </a:solidFill>
                <a:latin typeface="Aptos"/>
              </a:defRPr>
            </a:pPr>
            <a:r>
              <a:t>Thank you for your time and consideration.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CD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Ashish Kumar Patel  |  AI &amp; Data Analytics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282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06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Data Analytics Internship Presentation</dc:title>
  <dc:subject>Presentation based on three Cisco Networking Academy / IILM University completion certificates</dc:subject>
  <dc:creator>Ashish Kumar Patel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